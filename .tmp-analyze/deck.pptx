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封面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957" y="2331415"/>
            <a:ext cx="10146083" cy="1142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昆佰泰基因测序整体解决方案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1523999" y="4037451"/>
            <a:ext cx="9144000" cy="114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从样本前处理到生信报告的一站式交付能力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内页（浅色）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579" y="204475"/>
            <a:ext cx="9736473" cy="40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精准医疗正在重塑临床决策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31579" y="1523860"/>
            <a:ext cx="10931156" cy="425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肿瘤早筛覆盖率持续提升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三代测序渗透率快速上升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临床指南更新加快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内页（浅色）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579" y="204475"/>
            <a:ext cx="9736473" cy="40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三年关键指标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31579" y="2307861"/>
            <a:ext cx="3338919" cy="1645920"/>
          </a:xfrm>
          <a:prstGeom prst="roundRect">
            <a:avLst>
              <a:gd name="adj" fmla="val 617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5419" y="2613270"/>
            <a:ext cx="28512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8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38万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75419" y="3374051"/>
            <a:ext cx="28512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年检测样本量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75298" y="2307861"/>
            <a:ext cx="3338919" cy="1645920"/>
          </a:xfrm>
          <a:prstGeom prst="roundRect">
            <a:avLst>
              <a:gd name="adj" fmla="val 617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19138" y="2613270"/>
            <a:ext cx="28512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8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19138" y="3374051"/>
            <a:ext cx="28512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合作医院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19016" y="2307861"/>
            <a:ext cx="3338919" cy="1645920"/>
          </a:xfrm>
          <a:prstGeom prst="roundRect">
            <a:avLst>
              <a:gd name="adj" fmla="val 617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62856" y="2613270"/>
            <a:ext cx="28512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8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5天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162856" y="3374051"/>
            <a:ext cx="28512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平均交付周期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内页（深色）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579" y="204475"/>
            <a:ext cx="9824386" cy="40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四大技术优势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31579" y="1752571"/>
            <a:ext cx="5331466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1579" y="1752571"/>
            <a:ext cx="5331466" cy="54864"/>
          </a:xfrm>
          <a:prstGeom prst="roundRect">
            <a:avLst>
              <a:gd name="adj" fmla="val 50000"/>
            </a:avLst>
          </a:prstGeom>
          <a:solidFill>
            <a:srgbClr val="15A590"/>
          </a:solidFill>
          <a:ln w="12700">
            <a:solidFill>
              <a:srgbClr val="15A5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6379" y="2383507"/>
            <a:ext cx="384048" cy="384048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6379" y="2480433"/>
            <a:ext cx="38404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45979" y="2448734"/>
            <a:ext cx="4051306" cy="25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932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自建测序平台，产能稳定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31269" y="1752571"/>
            <a:ext cx="5331466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31269" y="1752571"/>
            <a:ext cx="5331466" cy="54864"/>
          </a:xfrm>
          <a:prstGeom prst="roundRect">
            <a:avLst>
              <a:gd name="adj" fmla="val 50000"/>
            </a:avLst>
          </a:prstGeom>
          <a:solidFill>
            <a:srgbClr val="15A590"/>
          </a:solidFill>
          <a:ln w="12700">
            <a:solidFill>
              <a:srgbClr val="15A5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6069" y="2383507"/>
            <a:ext cx="384048" cy="384048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6069" y="2480433"/>
            <a:ext cx="38404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45669" y="2448734"/>
            <a:ext cx="4051306" cy="25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932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全流程质控，交付可靠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1579" y="3672811"/>
            <a:ext cx="5331466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1579" y="3672811"/>
            <a:ext cx="5331466" cy="54864"/>
          </a:xfrm>
          <a:prstGeom prst="roundRect">
            <a:avLst>
              <a:gd name="adj" fmla="val 50000"/>
            </a:avLst>
          </a:prstGeom>
          <a:solidFill>
            <a:srgbClr val="15A590"/>
          </a:solidFill>
          <a:ln w="12700">
            <a:solidFill>
              <a:srgbClr val="15A5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6379" y="4303747"/>
            <a:ext cx="384048" cy="384048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6379" y="4400673"/>
            <a:ext cx="38404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45979" y="4368974"/>
            <a:ext cx="4051306" cy="25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932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200+ 癌种panel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1269" y="3672811"/>
            <a:ext cx="5331466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31269" y="3672811"/>
            <a:ext cx="5331466" cy="54864"/>
          </a:xfrm>
          <a:prstGeom prst="roundRect">
            <a:avLst>
              <a:gd name="adj" fmla="val 50000"/>
            </a:avLst>
          </a:prstGeom>
          <a:solidFill>
            <a:srgbClr val="15A590"/>
          </a:solidFill>
          <a:ln w="12700">
            <a:solidFill>
              <a:srgbClr val="15A5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6069" y="4303747"/>
            <a:ext cx="384048" cy="384048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6069" y="4400673"/>
            <a:ext cx="38404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45669" y="4368974"/>
            <a:ext cx="4051306" cy="25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932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生信团队驻场支持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内页（浅色）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579" y="204475"/>
            <a:ext cx="9736473" cy="40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标准交付流程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31579" y="2365760"/>
            <a:ext cx="2458469" cy="1783080"/>
          </a:xfrm>
          <a:prstGeom prst="roundRect">
            <a:avLst>
              <a:gd name="adj" fmla="val 569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5419" y="2068580"/>
            <a:ext cx="457200" cy="457200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419" y="21783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6379" y="2694639"/>
            <a:ext cx="1848869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样本前处理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6379" y="3449476"/>
            <a:ext cx="1848869" cy="22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48小时内完成建库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90048" y="3089660"/>
            <a:ext cx="3657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A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55808" y="2365760"/>
            <a:ext cx="2458469" cy="1783080"/>
          </a:xfrm>
          <a:prstGeom prst="roundRect">
            <a:avLst>
              <a:gd name="adj" fmla="val 569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99648" y="2068580"/>
            <a:ext cx="457200" cy="457200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9648" y="21783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60608" y="2694639"/>
            <a:ext cx="1848869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上机测序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60608" y="3338529"/>
            <a:ext cx="1848869" cy="443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Illumina NovaSeq 平台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14277" y="3089660"/>
            <a:ext cx="3657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A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280037" y="2365760"/>
            <a:ext cx="2458469" cy="1783080"/>
          </a:xfrm>
          <a:prstGeom prst="roundRect">
            <a:avLst>
              <a:gd name="adj" fmla="val 569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23877" y="2068580"/>
            <a:ext cx="457200" cy="457200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23877" y="21783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4837" y="2694639"/>
            <a:ext cx="1848869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生信分析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84837" y="3449476"/>
            <a:ext cx="1848869" cy="22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自动化流程与人工复核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38506" y="3089660"/>
            <a:ext cx="3657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A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104266" y="2365760"/>
            <a:ext cx="2458469" cy="1783080"/>
          </a:xfrm>
          <a:prstGeom prst="roundRect">
            <a:avLst>
              <a:gd name="adj" fmla="val 569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48106" y="2068580"/>
            <a:ext cx="457200" cy="457200"/>
          </a:xfrm>
          <a:prstGeom prst="ellipse">
            <a:avLst/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48106" y="21783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409066" y="2694639"/>
            <a:ext cx="1848869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报告交付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409066" y="3449476"/>
            <a:ext cx="1848869" cy="22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临床级报告与解读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内页（浅色）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579" y="204475"/>
            <a:ext cx="9736473" cy="40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3D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两种合作模式对比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31579" y="2193104"/>
            <a:ext cx="4809709" cy="2028444"/>
          </a:xfrm>
          <a:prstGeom prst="roundRect">
            <a:avLst>
              <a:gd name="adj" fmla="val 500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1579" y="2193104"/>
            <a:ext cx="4809709" cy="397764"/>
          </a:xfrm>
          <a:prstGeom prst="roundRect">
            <a:avLst>
              <a:gd name="adj" fmla="val 25543"/>
            </a:avLst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6379" y="2249339"/>
            <a:ext cx="4200109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自建实验室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8299" y="2693738"/>
            <a:ext cx="3956269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长期成本更低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数据完全自主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 6 个月建设期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15780" y="2193104"/>
            <a:ext cx="4809709" cy="2028444"/>
          </a:xfrm>
          <a:prstGeom prst="roundRect">
            <a:avLst>
              <a:gd name="adj" fmla="val 500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15780" y="2193104"/>
            <a:ext cx="4809709" cy="397764"/>
          </a:xfrm>
          <a:prstGeom prst="roundRect">
            <a:avLst>
              <a:gd name="adj" fmla="val 25543"/>
            </a:avLst>
          </a:prstGeom>
          <a:solidFill>
            <a:srgbClr val="0F7869"/>
          </a:solidFill>
          <a:ln w="12700">
            <a:solidFill>
              <a:srgbClr val="0F78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0580" y="2249339"/>
            <a:ext cx="4200109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委托检测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42500" y="2693738"/>
            <a:ext cx="3956269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启动快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无需设备投入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C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依赖外部排期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模板版式背景：内页（深色）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579" y="204475"/>
            <a:ext cx="9824386" cy="40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为什么选择昆佰泰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31579" y="1544642"/>
            <a:ext cx="10931156" cy="425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2018 年至今，昆佰泰累计完成超过三百万例样本检测，服务网络覆盖全国二十六个省市。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我们不只交付测序结果，而是交付可以直接进入临床决策的完整证据链。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昆佰泰基因测序整体解决方案</dc:title>
  <dc:subject>Created with PPTD</dc:subject>
  <dc:creator>PPTD</dc:creator>
  <cp:lastModifiedBy>PPTD</cp:lastModifiedBy>
  <cp:revision>1</cp:revision>
  <dcterms:created xsi:type="dcterms:W3CDTF">2026-10-21T13:16:51Z</dcterms:created>
  <dcterms:modified xsi:type="dcterms:W3CDTF">2026-10-21T13:16:51Z</dcterms:modified>
</cp:coreProperties>
</file>